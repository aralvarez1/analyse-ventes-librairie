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0T16:25:50.64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0,'2677'0'0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0T16:26:02.69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 0,'2567'-55'0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0T16:26:09.3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2,'20'0,"19"-1,0 2,0 1,54 12,-45-7,1-1,0-3,95-6,-34 0,764 3,-853 2,-1 0,37 8,-35-5,1-1,24 1,-9-2,42 8,-45-5,59 2,260-9,-331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30T16:26:12.1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0,'2322'83'0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0T16:27:05.4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30,'3'4,"0"-1,-1 1,1 0,-1 1,0-1,0 0,0 0,0 1,-1 0,0-1,0 1,1 8,1 64,-3-56,0-18,0 30,1 0,1-1,10 45,-8-55,-2 1,0-1,-2 31,-1-37,1-1,0 0,1 0,0 0,1 0,1 0,1 0,10 28,-14-43,1 1,-1-1,0 0,1 0,-1 0,0 1,1-1,-1 0,0 0,1 0,-1 0,0 0,1 0,-1 1,0-1,1 0,-1 0,0 0,1 0,-1 0,0-1,1 1,-1 0,0 0,1 0,-1 0,0 0,1 0,-1-1,0 1,1 0,-1 0,0 0,1-1,-1 1,0 0,0 0,1-1,-1 1,0 0,0 0,0-1,0 1,1 0,-1-1,0 1,0 0,0-1,0 1,0-1,0 1,0 0,0-1,0 1,10-21,-4-13,-1 1,-2 0,-1-1,-2 0,-4-36,1-18,2 56,-12-59,8 59,-4-57,10 77,-1 9,1 0,-1 0,0 0,0 0,0 0,0 0,-1 0,1 0,-1 0,1 1,-1-1,-2-5,3 8,-1 0,1 0,0 0,0 0,0-1,0 1,-1 0,1 0,0 0,0 0,0 0,0 0,-1 0,1 0,0 0,0 0,0 0,-1 0,1 0,0 0,0 0,0 0,0 0,-1 0,1 0,0 0,0 0,0 0,0 0,-1 1,1-1,0 0,0 0,0 0,0 0,0 0,-1 0,1 1,0-1,0 0,0 0,0 0,0 0,0 0,0 1,0-1,0 0,-7 16,1 15,1 38,2 0,9 101,-6-169,0 1,0-1,0 1,1-1,-1 1,0-1,0 1,1-1,-1 1,1-1,0 1,-1-1,1 1,0-1,0 0,0 0,0 1,2 1,-2-3,0-1,-1 1,1-1,0 1,0-1,-1 1,1-1,0 0,0 1,-1-1,1 0,-1 1,1-1,-1 0,1 0,-1 1,1-1,-1 0,0 0,1 0,-1 0,0 0,0 0,0 0,0 0,0 1,0-1,0 0,0 0,0 0,0-1,3-29,-1 1,-1-1,-6-49,3 63,0 0,-2 0,0 1,-1 0,-1-1,0 2,-1-1,-11-15,9 17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30T16:27:15.79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848 1263,'0'-36,"-1"-12,9-66,-6 97,2 0,0 0,0 1,2-1,0 1,1 0,13-21,-11 23,0 1,0-1,2 2,0 0,0 0,1 1,0 0,24-16,102-81,53-28,-149 109,52-25,-55 32,14-11,-20 12,40-17,165-79,-160 75,-62 30,1 0,0 2,1 0,21-6,-10 6,96-21,-99 24,46-16,-52 14,-1 1,1 1,0 1,23-2,55-8,-68 9,59-4,-68 9,12 1,-1-2,0-2,54-9,-43 4,0 3,1 2,-1 1,55 6,2-1,1512-4,-1586 3,0 0,35 9,-33-6,49 4,-27-5,-1 2,1 2,57 18,-21-12,-66-12,0 1,0 1,0 0,20 8,8 11,-1 1,68 47,-106-63,0-1,0 1,12 15,14 12,-2-7,-1 0,54 65,-55-46,-3 0,-1 2,36 96,4-21,21 90,-79-191,-1 0,-2 1,6 33,9 31,-14-62,-1 1,2 28,4 23,2-13,-4 1,-2 0,-1 82,-6-127,1 0,8 37,-5-36,3 47,-6 653,-4-351,2 175,-1-530,-1 0,-1 0,0 0,-1-1,-10 27,7-23,1 0,1 0,-3 23,1 4,-1 0,-2 0,-3-2,-17 45,-52 119,73-187,0-1,-2 0,-18 26,-21 40,31-50,-1-1,-30 40,12-20,-18 25,-57 80,69-100,32-42,-1 0,-24 27,-117 127,131-148,-25 35,-2 1,35-43,-86 105,20-39,-89 93,70-77,89-89,-1 0,-24 15,-14 13,36-28,1 0,-1-1,-1 0,0-1,-16 7,12-7,1 1,1 1,-17 12,10-7,1-1,-1-1,-1-2,0 0,-38 10,-40 18,64-24,0-1,-1-2,-1-2,1-2,-45 3,25-2,-107 28,142-32,1-1,-40 2,36-5,-50 10,49-5,-1-2,-34 0,34-3,-1 2,-30 7,12-3,0-2,-1-1,-92-7,32 0,-1037 3,1120-2,-1 0,-30-8,28 5,-45-4,52 7,1-1,0-1,0-1,-23-8,24 6,-1 1,0 1,0 1,-29-2,12 4,-42-9,44 5,-52-2,67 7,0-1,-32-8,31 5,0 1,-25-1,28 3,0-1,1 0,-1-2,-27-9,27 7,0 1,-1 1,-38-4,24 5,-1-1,1-2,0-1,1-2,-34-14,59 20,-1-2,1 1,0-1,1 0,0-1,-14-14,-26-19,-6-8,14 10,25 24,1 0,1-1,1 0,0-1,1 0,-17-35,-6-8,20 33,1-2,1 0,2 0,1-1,1 0,1 0,-4-46,0 19,-4-26,2-28,7 72,-3-59,11-148,-2 222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30E78-D4E3-4846-ADE0-C285F67EDEEC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8A7AC-F1AC-4921-8B2D-0A8CE5FD8D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650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E0237A-0A8F-DAA9-BD11-B644F5F7A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A22D02-7A9A-DCED-F937-527EE19BF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46B58A-C70C-6890-2038-64E293E8E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967C2-39C7-4757-941B-868604B07183}" type="datetime1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00FAF5-A3A3-E925-E880-543E9E19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12979A-7888-7CE8-720F-E4E0658B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190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40C4C9-616A-149F-26EC-AF2B940F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1200DA-3258-5BEA-F11D-6318732FE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6E0434-8B83-38A6-790F-BC9619AB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3829-BDAF-44D8-A4B7-B40E41DFBD15}" type="datetime1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631BFF-3D6D-C051-C537-44B99635A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A69735-47D3-4166-BBD6-D0AAC6C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224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1D6100-5959-8073-5D29-B36BA9DD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62C1BD-15DA-A483-97EA-3E8EF36C0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09AD22-B165-FD7E-5294-5D3C9AC03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BD01-8697-4404-8FBC-396F61DE5046}" type="datetime1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5215A9-6EAB-5782-A5CB-6F8B3A440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7EC490-966E-A442-29ED-8367270A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7699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FA3B6-DEDC-6B6A-A0B0-66615796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EE0BB2-C262-45EC-A193-F1D412DAE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9F7A0CF-F61F-0C45-1486-F778E28E0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324C3C-AD88-8BAD-11C9-CFD1D39C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8883-C549-45C1-9DC3-6EAF8DE44F4D}" type="datetime1">
              <a:rPr lang="fr-FR" smtClean="0"/>
              <a:t>30/05/2025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745E7F-9C96-15D7-BB84-6745F2D9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8A8765-652C-0410-10E6-4318D57B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723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388B3-5FF8-B9DB-03FA-01BCF2EC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19EA0E-5E45-B009-020B-A4832E80A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5777EFD-FACB-F999-5670-5317F9F9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8B1DFA6-F4A7-3B72-89EE-AC7ADB1AC0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1C4A85E-6F1E-C99A-1BC7-304F13C70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9CBB054-3666-EE1C-5B53-7FF9CF67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3F9E6-51F5-46A8-8B2C-2764526A17B5}" type="datetime1">
              <a:rPr lang="fr-FR" smtClean="0"/>
              <a:t>30/05/2025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D572B2B-ED5E-2A6B-EBED-053DDFA85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3D31C1E-F4C8-6DAA-C5A2-FB4D7EFA9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7357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A4379-9A55-3DBB-EEC7-D5F0CA4E5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8D3B52A-D4ED-F434-1C5B-0985BD8E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C4064-27D5-4383-BB37-C09491E4499C}" type="datetime1">
              <a:rPr lang="fr-FR" smtClean="0"/>
              <a:t>30/05/2025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671C3B-9A93-10C2-DF81-538CFD00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66ECEB6-CB47-C326-2C9C-8CA8FA8FD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587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DF1F52-7037-EDB7-FA9D-011D694F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48AAB-2DA1-4315-A0FA-FFFCDDD8BA1C}" type="datetime1">
              <a:rPr lang="fr-FR" smtClean="0"/>
              <a:t>30/05/2025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8C802D-FEA1-54AB-90EE-157828DA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BB82CC-6362-FDB1-0B57-4D981BEC4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79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519407-D49C-A073-10BE-F310C0775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8995B7-4C79-FB79-947D-538236BEB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D6A051-8405-C078-F42E-D0441E0BD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2531EF-E7C4-F0BC-62DA-CBDFFC5F7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B934D-1969-4D89-83F0-9D3463CD76AE}" type="datetime1">
              <a:rPr lang="fr-FR" smtClean="0"/>
              <a:t>30/05/2025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DB6EA6-C6DF-2AA4-3287-B556A3E09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76B312-5D54-3B3B-2B18-FB4A1EDC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663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2CB069-E5D1-A664-67A2-1A3519567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E2D4326-8C29-5755-922D-0F886CE6C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9ACB25-CC3C-B9A5-DECD-8D17477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8C1E2D-2B18-34EC-7302-773BF2BC2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99D3-E35D-4CA3-A00F-78B3E00A4C4B}" type="datetime1">
              <a:rPr lang="fr-FR" smtClean="0"/>
              <a:t>30/05/2025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A498CF-3C5E-72C4-BB5C-ED1702129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E9180C-08A5-0127-A636-1EE2B31A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4742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CFC33A-4A06-FD15-EA87-79F44BD99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61C90F-26ED-C5BB-02B4-6FD7F0D83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6B9734-8805-93DB-3535-EAB844C0D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6E175-0223-44BD-A5EF-8903EED0EEBE}" type="datetime1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E1D3B9-D691-C25C-0AF6-79407F571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E7285D-3658-13D3-847F-2764634C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5650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539568E-3872-FAB0-43E9-7597BC4144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75074AD-5ECD-3CDA-0A83-9CCA25390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FE4AEA-1CCD-42AD-0D8A-1064765E0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1D52E-7E63-49BF-BD2B-A74783EF181A}" type="datetime1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695F8C-7B9D-BCE3-F9A6-114181001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B978A2-A64E-7C90-D98A-BC0AC23B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40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A497F65-E16B-47AB-0458-2C5E93ACB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C80737-3BE4-4EC1-0BFE-25180282E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5E2134-5761-FF3C-766B-0C52E2EBC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44A05-0853-4435-96E5-5BC675BCC6EB}" type="datetime1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5CE9CB-78E8-C238-30FA-13B1CD612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A9BE97-5DCE-21A2-53E6-47D709DBE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C2DA3-9CFF-4223-9A1E-761C082B85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05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customXml" Target="../ink/ink4.xml"/><Relationship Id="rId1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eilleures ventes de livres: Grasset l'emporte face à Gallimard – L'Express">
            <a:extLst>
              <a:ext uri="{FF2B5EF4-FFF2-40B4-BE49-F238E27FC236}">
                <a16:creationId xmlns:a16="http://schemas.microsoft.com/office/drawing/2014/main" id="{2ADDE3EA-4374-7D6D-9094-F6BD71924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17" r="14359"/>
          <a:stretch>
            <a:fillRect/>
          </a:stretch>
        </p:blipFill>
        <p:spPr bwMode="auto">
          <a:xfrm>
            <a:off x="2522358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Rectangle 103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784B8CA-B726-84ED-B25B-B1F68F5DD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5200"/>
              <a:t>Projet : Analyser les ventes d’une librairie avec Python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01C5F8-D5B9-FE8F-1B38-A8F50B6C8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fr-FR"/>
              <a:t>Arthur Alvarez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96D464-7AD3-2108-D9CA-E0D8F97E3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626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45E227-A9F6-1E6D-998D-4E676150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fr-FR" sz="5400"/>
              <a:t>Sommaire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B9B091-3323-7931-224D-F1F0EA15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fr-FR" sz="2200" dirty="0"/>
              <a:t>Contexte</a:t>
            </a:r>
          </a:p>
          <a:p>
            <a:r>
              <a:rPr lang="fr-FR" sz="2200" dirty="0"/>
              <a:t>Analyse des indicateurs de ventes</a:t>
            </a:r>
          </a:p>
          <a:p>
            <a:r>
              <a:rPr lang="fr-FR" sz="2200" dirty="0"/>
              <a:t>Analyse des corrélations</a:t>
            </a:r>
          </a:p>
          <a:p>
            <a:r>
              <a:rPr lang="fr-FR" sz="2200" dirty="0"/>
              <a:t>Partie technique</a:t>
            </a:r>
          </a:p>
          <a:p>
            <a:endParaRPr lang="fr-FR" sz="2200" dirty="0"/>
          </a:p>
        </p:txBody>
      </p:sp>
      <p:pic>
        <p:nvPicPr>
          <p:cNvPr id="2050" name="Picture 2" descr="Ouvrir une librairie : Guide complet 2023 - Banket">
            <a:extLst>
              <a:ext uri="{FF2B5EF4-FFF2-40B4-BE49-F238E27FC236}">
                <a16:creationId xmlns:a16="http://schemas.microsoft.com/office/drawing/2014/main" id="{C6279B6B-AE88-59CB-A444-169939E07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9" r="10398" b="-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9043AB-E479-E82A-25FE-576F79DE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16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D32466-7B9B-F204-CB1A-FC0408521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fr-FR" sz="3600" dirty="0"/>
              <a:t>Contexte</a:t>
            </a:r>
          </a:p>
        </p:txBody>
      </p:sp>
      <p:pic>
        <p:nvPicPr>
          <p:cNvPr id="3074" name="Picture 2" descr="Context : résultats (137 mille) d'images libres de droits, de photos de  stock et d'illustrations | Shutterstock">
            <a:extLst>
              <a:ext uri="{FF2B5EF4-FFF2-40B4-BE49-F238E27FC236}">
                <a16:creationId xmlns:a16="http://schemas.microsoft.com/office/drawing/2014/main" id="{0160AAA7-D53D-FEB9-8D3B-171EDAB3F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14" b="24038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B7F9C4-E7A8-3B21-F791-884C84DF2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fr-FR" sz="1800" dirty="0"/>
              <a:t>Il y a 2 ans -&gt; ouverture du site de vente en ligne</a:t>
            </a:r>
          </a:p>
          <a:p>
            <a:r>
              <a:rPr lang="fr-FR" sz="1800" dirty="0"/>
              <a:t>Besoin de comprendre les données pour décider de la marche à suivre</a:t>
            </a:r>
          </a:p>
          <a:p>
            <a:r>
              <a:rPr lang="fr-FR" sz="1800" dirty="0"/>
              <a:t>Solution : analyse d’indicateurs de ventes et de corrélations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6E67DA-34A4-1570-E066-EBB10F7B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217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22579D-0BC5-2DED-03A6-B2DE6ABA1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800"/>
              <a:t>Analyse des indicateurs de ventes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12CBD3-2194-843E-0A12-C7E3E0633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998112"/>
            <a:ext cx="3913238" cy="3410712"/>
          </a:xfrm>
        </p:spPr>
        <p:txBody>
          <a:bodyPr anchor="t">
            <a:normAutofit/>
          </a:bodyPr>
          <a:lstStyle/>
          <a:p>
            <a:r>
              <a:rPr lang="fr-FR" sz="2200" dirty="0"/>
              <a:t>Evolution dans le temps du :</a:t>
            </a:r>
          </a:p>
          <a:p>
            <a:pPr lvl="1"/>
            <a:r>
              <a:rPr lang="fr-FR" sz="2200" dirty="0"/>
              <a:t>CA</a:t>
            </a:r>
          </a:p>
          <a:p>
            <a:pPr lvl="1"/>
            <a:r>
              <a:rPr lang="fr-FR" sz="2200" dirty="0"/>
              <a:t>CA par catégorie</a:t>
            </a:r>
          </a:p>
          <a:p>
            <a:pPr lvl="1"/>
            <a:r>
              <a:rPr lang="fr-FR" sz="2200" dirty="0"/>
              <a:t>Nombre de clients</a:t>
            </a:r>
          </a:p>
          <a:p>
            <a:pPr lvl="1"/>
            <a:r>
              <a:rPr lang="fr-FR" sz="2200" dirty="0"/>
              <a:t>Nombre de transactions</a:t>
            </a:r>
          </a:p>
          <a:p>
            <a:pPr lvl="1"/>
            <a:r>
              <a:rPr lang="fr-FR" sz="2200" dirty="0"/>
              <a:t>Nombre de produits vendus</a:t>
            </a:r>
          </a:p>
          <a:p>
            <a:pPr lvl="1"/>
            <a:endParaRPr lang="fr-FR" sz="2200" dirty="0"/>
          </a:p>
        </p:txBody>
      </p:sp>
      <p:pic>
        <p:nvPicPr>
          <p:cNvPr id="4098" name="Picture 2" descr="Analyse des données">
            <a:extLst>
              <a:ext uri="{FF2B5EF4-FFF2-40B4-BE49-F238E27FC236}">
                <a16:creationId xmlns:a16="http://schemas.microsoft.com/office/drawing/2014/main" id="{0CF90A24-BEFF-6DA6-DA18-0CF31A90F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124884"/>
            <a:ext cx="6903720" cy="460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6E4BE2-FDBC-2092-4A46-67880F2C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52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9FA427D-3923-112C-3039-6360D820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E70E840-C329-1B48-5587-A9E5F6453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27840"/>
            <a:ext cx="7214616" cy="537488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00F0D5B-4D0D-8985-FF50-E0725E635EE6}"/>
              </a:ext>
            </a:extLst>
          </p:cNvPr>
          <p:cNvSpPr txBox="1"/>
          <p:nvPr/>
        </p:nvSpPr>
        <p:spPr>
          <a:xfrm>
            <a:off x="4154184" y="2723536"/>
            <a:ext cx="479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CADBDD4-0168-FACC-4688-B3EF5E1610C7}"/>
              </a:ext>
            </a:extLst>
          </p:cNvPr>
          <p:cNvSpPr txBox="1"/>
          <p:nvPr/>
        </p:nvSpPr>
        <p:spPr>
          <a:xfrm>
            <a:off x="8261604" y="6017342"/>
            <a:ext cx="660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5D121E73-DC02-242E-12FB-8E282030D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209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B39807-3D94-9034-E187-A931EB5B9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 par catégorie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86FD9D8-37BC-B695-4F74-8867A97C4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59917"/>
            <a:ext cx="7214616" cy="4310733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6F3784E-7B20-6D8E-DBF9-1274FA3C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74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F20547B-693D-2DFB-15BF-F1106419E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Nombre de clients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C5A3F7-EE9A-166E-C65E-3077A556C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259917"/>
            <a:ext cx="7214616" cy="4310733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DA31DC-5743-C374-A4D2-971FD459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9338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04D52F-CD48-E9C9-D902-44B3AA655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FD04CD-4544-EB6B-9D21-64B407319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1F2816-FC39-DB5E-6ABE-46E6E0343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901" y="661975"/>
            <a:ext cx="4444395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Nombre de transactions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0108C50-3ABF-11FE-34FC-B2EAC693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35E332F-7854-8492-4297-07D34DC3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48" y="1271705"/>
            <a:ext cx="7521052" cy="4495867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9B5A44-263B-EB53-FEDF-DC39903CC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80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66B02-42F1-6D51-971F-75C71985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09DA23-DFA3-AA57-88CB-C03F5CCFE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D65088-9225-68AB-3314-F9644851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901" y="661975"/>
            <a:ext cx="4135957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Nombre de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produits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vendus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5A77ADD-BBF7-67B7-F66F-FAE4DCE28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BBD8215-15E2-B5BD-43F4-1A7C54811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206" y="1042759"/>
            <a:ext cx="7983794" cy="4772481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1D9AB4-8675-B07C-D64C-94419FE3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7253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8A228-C543-4E22-D68E-E18B49FFF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FF5D1BB8-42CB-18EF-240D-1EC972570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125AFC-CF13-FBDB-C515-0BB91168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800" dirty="0"/>
              <a:t>Analyse des indicateurs de ventes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345D1BEA-C4CF-D9E6-EE8F-763705FCC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5FED5E-7E93-8676-EEAD-549EAEB57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998112"/>
            <a:ext cx="3913238" cy="3410712"/>
          </a:xfrm>
        </p:spPr>
        <p:txBody>
          <a:bodyPr anchor="t">
            <a:normAutofit/>
          </a:bodyPr>
          <a:lstStyle/>
          <a:p>
            <a:r>
              <a:rPr lang="fr-FR" sz="2200" dirty="0"/>
              <a:t>Zoom sur les références :</a:t>
            </a:r>
          </a:p>
          <a:p>
            <a:pPr lvl="1"/>
            <a:r>
              <a:rPr lang="fr-FR" sz="2200" dirty="0"/>
              <a:t>Répartition par catégorie</a:t>
            </a:r>
          </a:p>
          <a:p>
            <a:pPr lvl="1"/>
            <a:r>
              <a:rPr lang="fr-FR" sz="2200" dirty="0"/>
              <a:t>Les tops</a:t>
            </a:r>
          </a:p>
          <a:p>
            <a:pPr lvl="1"/>
            <a:r>
              <a:rPr lang="fr-FR" sz="2200" dirty="0"/>
              <a:t>Les flops</a:t>
            </a:r>
          </a:p>
          <a:p>
            <a:pPr lvl="1"/>
            <a:endParaRPr lang="fr-FR" sz="2200" dirty="0"/>
          </a:p>
        </p:txBody>
      </p:sp>
      <p:pic>
        <p:nvPicPr>
          <p:cNvPr id="4098" name="Picture 2" descr="Analyse des données">
            <a:extLst>
              <a:ext uri="{FF2B5EF4-FFF2-40B4-BE49-F238E27FC236}">
                <a16:creationId xmlns:a16="http://schemas.microsoft.com/office/drawing/2014/main" id="{4CD56B01-B308-B51A-07E6-4CD3284F6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124884"/>
            <a:ext cx="6903720" cy="460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CE6C66-E5C2-5BD5-6152-88C66222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7196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26120-3680-1BB8-3356-69474315A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7802200-3CD9-638F-E9B8-C780499B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Répartition par catégorie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579319C-EED3-2E68-8519-5417F5BB4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84" y="2642616"/>
            <a:ext cx="3995328" cy="360578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59DFDD0-B994-A06B-3CFE-CD291726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436" y="2642616"/>
            <a:ext cx="4168536" cy="3605784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A738038-8A8F-EDF4-3907-743890AE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115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74464E-AF59-FE59-CA75-B31B2AFF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Les tops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A530088-2915-F56F-8636-1CB13BF80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7729"/>
            <a:ext cx="6100562" cy="364508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EFE8A68-7A79-301D-BAC4-4958281FE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90" y="2477729"/>
            <a:ext cx="6100562" cy="3645085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020CF85-EF7A-5F85-6B16-34677544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8780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C7058B5-BFD8-571F-902A-CCC7C8362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Les flops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67D8E8-4E9F-3561-DCF1-BE3603717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0454"/>
            <a:ext cx="6096000" cy="364235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A1686B4-F3CA-A4E4-34B8-3C4377BD5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80454"/>
            <a:ext cx="6096000" cy="3642359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235105E-43FE-036E-0580-11E56BFB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7298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1EAFB-382B-31CF-3851-51F9D705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758E5808-6249-5F6D-3EB7-D30039CD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2DE7AF-8451-F4F9-EA86-2CB6596F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800" dirty="0"/>
              <a:t>Analyse des indicateurs de ventes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E03200B9-5023-4A01-1464-1636B7F1E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EBED05-8D55-43C0-C83C-DBA430C41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998112"/>
            <a:ext cx="3913238" cy="3410712"/>
          </a:xfrm>
        </p:spPr>
        <p:txBody>
          <a:bodyPr anchor="t">
            <a:normAutofit/>
          </a:bodyPr>
          <a:lstStyle/>
          <a:p>
            <a:r>
              <a:rPr lang="fr-FR" sz="2200" dirty="0"/>
              <a:t>Informations sur le profil des clients :</a:t>
            </a:r>
          </a:p>
          <a:p>
            <a:pPr lvl="1"/>
            <a:r>
              <a:rPr lang="fr-FR" sz="2200" dirty="0"/>
              <a:t>CA pour les clients b2b</a:t>
            </a:r>
          </a:p>
          <a:p>
            <a:pPr lvl="1"/>
            <a:r>
              <a:rPr lang="fr-FR" sz="2200" dirty="0"/>
              <a:t>Courbe de Lorenz</a:t>
            </a:r>
          </a:p>
          <a:p>
            <a:pPr lvl="1"/>
            <a:endParaRPr lang="fr-FR" sz="2200" dirty="0"/>
          </a:p>
        </p:txBody>
      </p:sp>
      <p:pic>
        <p:nvPicPr>
          <p:cNvPr id="4098" name="Picture 2" descr="Analyse des données">
            <a:extLst>
              <a:ext uri="{FF2B5EF4-FFF2-40B4-BE49-F238E27FC236}">
                <a16:creationId xmlns:a16="http://schemas.microsoft.com/office/drawing/2014/main" id="{9A5E9C4E-BAAA-657E-35AF-0F8146051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124884"/>
            <a:ext cx="6903720" cy="460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E134E1-A869-C183-CDB2-8D931D06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599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695805F-D07D-63BC-F0E1-EAE9E618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 pour les clients b2b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751CDF-DC4A-73D2-EDD9-E521F35A0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26242"/>
            <a:ext cx="7214616" cy="4978084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C00C21-D066-E05B-5115-D510FA83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419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9187AE-9708-647C-84E3-27794457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Courbe de Lorenz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FBE461-922D-FC8A-96CD-3D5998ECD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Coefficient de Gini : 0,44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F873B84-FE2F-9637-D807-4FFB37982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631" y="640080"/>
            <a:ext cx="5811945" cy="5550408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319763-4215-62E7-C77B-CC61AB38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1646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16D9A-D9BE-BF02-9296-94B1A57CF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DA05BB09-DC3F-48C5-EFBF-3440898A5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B02762E-3424-504C-646F-736FFC7F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800" dirty="0"/>
              <a:t>Analyse des corrélations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75A24CB9-9C5D-3B8B-2D36-80FDBC9ED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0E71D6-043E-9759-0FB9-CA2F2F208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998112"/>
            <a:ext cx="3913238" cy="3410712"/>
          </a:xfrm>
        </p:spPr>
        <p:txBody>
          <a:bodyPr anchor="t">
            <a:normAutofit/>
          </a:bodyPr>
          <a:lstStyle/>
          <a:p>
            <a:r>
              <a:rPr lang="fr-FR" sz="2200" dirty="0"/>
              <a:t>Corrélations entre :</a:t>
            </a:r>
          </a:p>
          <a:p>
            <a:pPr lvl="1"/>
            <a:r>
              <a:rPr lang="fr-FR" sz="1800" dirty="0"/>
              <a:t>Genre d’un client et catégorie des livres achetés</a:t>
            </a:r>
          </a:p>
          <a:p>
            <a:pPr lvl="1"/>
            <a:r>
              <a:rPr lang="fr-FR" sz="1800" dirty="0"/>
              <a:t>Âge des clients et montant total des achats</a:t>
            </a:r>
          </a:p>
          <a:p>
            <a:pPr lvl="1"/>
            <a:r>
              <a:rPr lang="fr-FR" sz="1800" dirty="0"/>
              <a:t>Âge des clients et fréquence d’achat</a:t>
            </a:r>
          </a:p>
          <a:p>
            <a:pPr lvl="1"/>
            <a:r>
              <a:rPr lang="fr-FR" sz="1800" dirty="0"/>
              <a:t>Âge des clients et la taille du panier moyen</a:t>
            </a:r>
          </a:p>
          <a:p>
            <a:pPr lvl="1"/>
            <a:r>
              <a:rPr lang="fr-FR" sz="1800" dirty="0"/>
              <a:t>Âge des clients et catégorie des livres achetés</a:t>
            </a:r>
          </a:p>
        </p:txBody>
      </p:sp>
      <p:pic>
        <p:nvPicPr>
          <p:cNvPr id="4098" name="Picture 2" descr="Analyse des données">
            <a:extLst>
              <a:ext uri="{FF2B5EF4-FFF2-40B4-BE49-F238E27FC236}">
                <a16:creationId xmlns:a16="http://schemas.microsoft.com/office/drawing/2014/main" id="{94A30276-983B-CB22-0D74-EDA56A7D7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124884"/>
            <a:ext cx="6903720" cy="460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C10639-F27E-F916-7EC7-7858F29F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6668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7A4648-F8CE-5338-45EC-79A8E676F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400"/>
              <a:t>Genre d’un client et catégorie des livres achetés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0E0651-2066-67B4-E57A-6F0DCB94D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fr-FR" sz="2200" dirty="0"/>
              <a:t>Statistique du test khi2 : 22,67</a:t>
            </a:r>
          </a:p>
          <a:p>
            <a:r>
              <a:rPr lang="fr-FR" sz="2200" dirty="0"/>
              <a:t>Valeur p : 1,2*10</a:t>
            </a:r>
            <a:r>
              <a:rPr lang="fr-FR" sz="2200" baseline="30000" dirty="0"/>
              <a:t>-5</a:t>
            </a:r>
          </a:p>
          <a:p>
            <a:r>
              <a:rPr lang="fr-FR" sz="2200" dirty="0"/>
              <a:t>Alpha : 0,05</a:t>
            </a:r>
          </a:p>
          <a:p>
            <a:r>
              <a:rPr lang="fr-FR" sz="2200" dirty="0"/>
              <a:t>p &lt; Alpha donc il y a un </a:t>
            </a:r>
          </a:p>
          <a:p>
            <a:pPr marL="0" indent="0">
              <a:buNone/>
            </a:pPr>
            <a:r>
              <a:rPr lang="fr-FR" sz="2200" dirty="0"/>
              <a:t>    lien entre les deux</a:t>
            </a:r>
          </a:p>
          <a:p>
            <a:pPr marL="0" indent="0">
              <a:buNone/>
            </a:pPr>
            <a:r>
              <a:rPr lang="fr-FR" sz="2200" dirty="0"/>
              <a:t>    variables</a:t>
            </a:r>
          </a:p>
          <a:p>
            <a:endParaRPr lang="fr-FR" sz="2200" baseline="30000" dirty="0"/>
          </a:p>
          <a:p>
            <a:endParaRPr lang="fr-FR" sz="2200" baseline="30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9BCE91E-8DE3-EB73-4115-EF84EB360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41624"/>
            <a:ext cx="6903720" cy="5574752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64AC324-6F85-2667-BAF6-17AD9E37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846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7CC81D-D591-F913-6C60-80608DF0E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800"/>
              <a:t>Âge des clients et montant total des achats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2C3248-54FB-AF57-4EB6-058B9ACF8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fr-FR" sz="2200" dirty="0"/>
              <a:t>Corrélation (méthode de Pearson) : -0,2</a:t>
            </a:r>
          </a:p>
          <a:p>
            <a:r>
              <a:rPr lang="fr-FR" sz="2200" dirty="0"/>
              <a:t>Relation négative faible : quand une des variables augmente, l’autre a tendance à diminuer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4481B33-8D64-A9C4-F914-6701D49A1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19290"/>
            <a:ext cx="6903720" cy="5419419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85DF484-2372-1BE6-F1C6-917FAA57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1528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B14B6B-C1EE-6C6B-372F-97D30537C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800"/>
              <a:t>Âge des clients et fréquence d’achat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BBCE48-EA09-4BEE-96BF-AB21191E0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fr-FR" sz="2200" dirty="0"/>
              <a:t>Corrélation de distance  ( </a:t>
            </a:r>
            <a:r>
              <a:rPr lang="fr-FR" sz="2200" dirty="0" err="1"/>
              <a:t>dCor</a:t>
            </a:r>
            <a:r>
              <a:rPr lang="fr-FR" sz="2200" dirty="0"/>
              <a:t> ) : 0,238</a:t>
            </a:r>
          </a:p>
          <a:p>
            <a:r>
              <a:rPr lang="fr-FR" sz="2200" dirty="0"/>
              <a:t>Il y a un lien entre les deux variables, mais il n’est ni linéaire ni monotone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D9FF42-7BBC-F618-76D6-E77338EF5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76142"/>
            <a:ext cx="6903720" cy="5505716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CBD764-F696-AA3D-F0B1-765A2783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6408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57FA01F-B4EC-21B3-7169-8D2F2FFF9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800"/>
              <a:t>Âge des clients et la taille du panier moyen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F250A0-D758-DF8E-B164-771DA92C9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3587103" cy="3410712"/>
          </a:xfrm>
        </p:spPr>
        <p:txBody>
          <a:bodyPr anchor="t">
            <a:normAutofit/>
          </a:bodyPr>
          <a:lstStyle/>
          <a:p>
            <a:r>
              <a:rPr lang="fr-FR" sz="2200" dirty="0"/>
              <a:t>Corrélation (méthode de Spearman) : -0,58</a:t>
            </a:r>
          </a:p>
          <a:p>
            <a:r>
              <a:rPr lang="fr-FR" sz="2200" dirty="0"/>
              <a:t>Relation monotone décroissante plutôt forte : quand une variable augmente, l’autre a tendance à diminuer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A04F495-DB45-5714-2A36-CB10192AB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76142"/>
            <a:ext cx="6903720" cy="5505716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CF01D5-5FD4-13FA-E4E2-96EF27A8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0846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D1B3AF-413D-D1F7-0BEE-6E95FC096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fr-FR" sz="3800"/>
              <a:t>Âge des clients et catégorie des livres achetés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DB0FDC-181C-F8F7-0FDF-58FD6F385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fr-FR" sz="2200" dirty="0"/>
              <a:t>ANOVA</a:t>
            </a:r>
          </a:p>
          <a:p>
            <a:r>
              <a:rPr lang="fr-FR" sz="2200" dirty="0"/>
              <a:t>Statistique F : 39705,5</a:t>
            </a:r>
          </a:p>
          <a:p>
            <a:r>
              <a:rPr lang="fr-FR" sz="2200" dirty="0"/>
              <a:t>Valeur p : 0,0</a:t>
            </a:r>
          </a:p>
          <a:p>
            <a:r>
              <a:rPr lang="fr-FR" sz="2200" dirty="0"/>
              <a:t>Alpha : 0,05</a:t>
            </a:r>
          </a:p>
          <a:p>
            <a:r>
              <a:rPr lang="fr-FR" sz="2200" dirty="0"/>
              <a:t>p &lt; Alpha donc il y a un lien entre les deux variables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3580FC8-C0A8-9075-AF80-71856F585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045" y="640080"/>
            <a:ext cx="6886222" cy="557784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F7369C-E203-D070-3C54-2A85B917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4401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F2B644-7AA9-D162-6498-CFEADE7A6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fr-FR" sz="5400"/>
              <a:t>Partie technique</a:t>
            </a:r>
          </a:p>
        </p:txBody>
      </p:sp>
      <p:sp>
        <p:nvSpPr>
          <p:cNvPr id="513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A4DC52-B00B-14FF-2B8A-2DC8C8633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fr-FR" sz="2200" dirty="0"/>
              <a:t>3 fichiers csv :</a:t>
            </a:r>
          </a:p>
          <a:p>
            <a:r>
              <a:rPr lang="fr-FR" sz="2200" dirty="0" err="1"/>
              <a:t>Customers</a:t>
            </a:r>
            <a:r>
              <a:rPr lang="fr-FR" sz="2200" dirty="0"/>
              <a:t> : </a:t>
            </a:r>
            <a:r>
              <a:rPr lang="fr-FR" sz="2200" dirty="0" err="1"/>
              <a:t>client_id</a:t>
            </a:r>
            <a:r>
              <a:rPr lang="fr-FR" sz="2200" dirty="0"/>
              <a:t>, </a:t>
            </a:r>
            <a:r>
              <a:rPr lang="fr-FR" sz="2200" dirty="0" err="1"/>
              <a:t>sex</a:t>
            </a:r>
            <a:r>
              <a:rPr lang="fr-FR" sz="2200" dirty="0"/>
              <a:t>, </a:t>
            </a:r>
            <a:r>
              <a:rPr lang="fr-FR" sz="2200" dirty="0" err="1"/>
              <a:t>birth</a:t>
            </a:r>
            <a:endParaRPr lang="fr-FR" sz="2200" dirty="0"/>
          </a:p>
          <a:p>
            <a:r>
              <a:rPr lang="fr-FR" sz="2200" dirty="0" err="1"/>
              <a:t>Products</a:t>
            </a:r>
            <a:r>
              <a:rPr lang="fr-FR" sz="2200" dirty="0"/>
              <a:t> : </a:t>
            </a:r>
            <a:r>
              <a:rPr lang="fr-FR" sz="2200" dirty="0" err="1"/>
              <a:t>id_prod</a:t>
            </a:r>
            <a:r>
              <a:rPr lang="fr-FR" sz="2200" dirty="0"/>
              <a:t>, </a:t>
            </a:r>
            <a:r>
              <a:rPr lang="fr-FR" sz="2200" dirty="0" err="1"/>
              <a:t>price</a:t>
            </a:r>
            <a:r>
              <a:rPr lang="fr-FR" sz="2200" dirty="0"/>
              <a:t>, </a:t>
            </a:r>
            <a:r>
              <a:rPr lang="fr-FR" sz="2200" dirty="0" err="1"/>
              <a:t>categ</a:t>
            </a:r>
            <a:endParaRPr lang="fr-FR" sz="2200" dirty="0"/>
          </a:p>
          <a:p>
            <a:r>
              <a:rPr lang="fr-FR" sz="2200" dirty="0"/>
              <a:t>Transactions : </a:t>
            </a:r>
            <a:r>
              <a:rPr lang="fr-FR" sz="2200" dirty="0" err="1"/>
              <a:t>id_prod</a:t>
            </a:r>
            <a:r>
              <a:rPr lang="fr-FR" sz="2200" dirty="0"/>
              <a:t>, date, </a:t>
            </a:r>
            <a:r>
              <a:rPr lang="fr-FR" sz="2200" dirty="0" err="1"/>
              <a:t>session_id</a:t>
            </a:r>
            <a:r>
              <a:rPr lang="fr-FR" sz="2200" dirty="0"/>
              <a:t>, </a:t>
            </a:r>
            <a:r>
              <a:rPr lang="fr-FR" sz="2200" dirty="0" err="1"/>
              <a:t>client_id</a:t>
            </a:r>
            <a:endParaRPr lang="fr-FR" sz="2200" dirty="0"/>
          </a:p>
        </p:txBody>
      </p:sp>
      <p:pic>
        <p:nvPicPr>
          <p:cNvPr id="5124" name="Picture 4" descr="csv&quot; Icon - Download for free – Iconduck">
            <a:extLst>
              <a:ext uri="{FF2B5EF4-FFF2-40B4-BE49-F238E27FC236}">
                <a16:creationId xmlns:a16="http://schemas.microsoft.com/office/drawing/2014/main" id="{72D323BE-4B2E-A8AE-AFAA-E176BE0E0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8227" y="640080"/>
            <a:ext cx="4880609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AC1927F2-AC23-B156-E129-64A264A33285}"/>
                  </a:ext>
                </a:extLst>
              </p14:cNvPr>
              <p14:cNvContentPartPr/>
              <p14:nvPr/>
            </p14:nvContentPartPr>
            <p14:xfrm>
              <a:off x="2526232" y="3283955"/>
              <a:ext cx="964080" cy="360"/>
            </p14:xfrm>
          </p:contentPart>
        </mc:Choice>
        <mc:Fallback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AC1927F2-AC23-B156-E129-64A264A332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2232" y="3175955"/>
                <a:ext cx="1071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F111C3BD-F12B-2A73-AEBF-F5241703DC92}"/>
                  </a:ext>
                </a:extLst>
              </p14:cNvPr>
              <p14:cNvContentPartPr/>
              <p14:nvPr/>
            </p14:nvContentPartPr>
            <p14:xfrm>
              <a:off x="2418232" y="4453595"/>
              <a:ext cx="924480" cy="20160"/>
            </p14:xfrm>
          </p:contentPart>
        </mc:Choice>
        <mc:Fallback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F111C3BD-F12B-2A73-AEBF-F5241703DC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64232" y="4345595"/>
                <a:ext cx="10321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F8005E75-E22A-C0D0-0D92-E6A104E8A0E1}"/>
                  </a:ext>
                </a:extLst>
              </p14:cNvPr>
              <p14:cNvContentPartPr/>
              <p14:nvPr/>
            </p14:nvContentPartPr>
            <p14:xfrm>
              <a:off x="2732872" y="4119155"/>
              <a:ext cx="834840" cy="30240"/>
            </p14:xfrm>
          </p:contentPart>
        </mc:Choice>
        <mc:Fallback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F8005E75-E22A-C0D0-0D92-E6A104E8A0E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79232" y="4011515"/>
                <a:ext cx="94248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D3EB2E96-E0FF-C66E-F7A9-A4B1CB54EA08}"/>
                  </a:ext>
                </a:extLst>
              </p14:cNvPr>
              <p14:cNvContentPartPr/>
              <p14:nvPr/>
            </p14:nvContentPartPr>
            <p14:xfrm>
              <a:off x="2280712" y="3706235"/>
              <a:ext cx="836280" cy="30240"/>
            </p14:xfrm>
          </p:contentPart>
        </mc:Choice>
        <mc:Fallback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D3EB2E96-E0FF-C66E-F7A9-A4B1CB54EA0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26712" y="3598235"/>
                <a:ext cx="9439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35B92315-ADC6-0866-8738-BBD58A37E6D6}"/>
                  </a:ext>
                </a:extLst>
              </p14:cNvPr>
              <p14:cNvContentPartPr/>
              <p14:nvPr/>
            </p14:nvContentPartPr>
            <p14:xfrm>
              <a:off x="2870392" y="3813875"/>
              <a:ext cx="42120" cy="23652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35B92315-ADC6-0866-8738-BBD58A37E6D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16752" y="3706235"/>
                <a:ext cx="14976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C5B771E8-8E2A-FCC0-41C1-0EDEE03629A3}"/>
                  </a:ext>
                </a:extLst>
              </p14:cNvPr>
              <p14:cNvContentPartPr/>
              <p14:nvPr/>
            </p14:nvContentPartPr>
            <p14:xfrm>
              <a:off x="2958952" y="2779955"/>
              <a:ext cx="2331720" cy="2324880"/>
            </p14:xfrm>
          </p:contentPart>
        </mc:Choice>
        <mc:Fallback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C5B771E8-8E2A-FCC0-41C1-0EDEE03629A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04952" y="2671955"/>
                <a:ext cx="2439360" cy="254052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Espace réservé du numéro de diapositive 18">
            <a:extLst>
              <a:ext uri="{FF2B5EF4-FFF2-40B4-BE49-F238E27FC236}">
                <a16:creationId xmlns:a16="http://schemas.microsoft.com/office/drawing/2014/main" id="{E11FA39A-1A6C-1CE4-577F-6AC81296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937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0177C07-BF1C-3D60-4115-7ED8688F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fr-FR" sz="5400"/>
              <a:t>Python</a:t>
            </a:r>
          </a:p>
        </p:txBody>
      </p:sp>
      <p:sp>
        <p:nvSpPr>
          <p:cNvPr id="615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B44ABC-6BA7-2304-B978-251094372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fr-FR" sz="2200" dirty="0"/>
              <a:t>Importation des fichiers</a:t>
            </a:r>
          </a:p>
          <a:p>
            <a:r>
              <a:rPr lang="fr-FR" sz="2200" dirty="0"/>
              <a:t>Jointures</a:t>
            </a:r>
          </a:p>
          <a:p>
            <a:r>
              <a:rPr lang="fr-FR" sz="2200" dirty="0"/>
              <a:t>Analyses : calculs et graphiques</a:t>
            </a:r>
          </a:p>
          <a:p>
            <a:r>
              <a:rPr lang="fr-FR" sz="2200" dirty="0"/>
              <a:t>Packages utilisés : pandas, </a:t>
            </a:r>
            <a:r>
              <a:rPr lang="fr-FR" sz="2200" dirty="0" err="1"/>
              <a:t>matplotlib</a:t>
            </a:r>
            <a:r>
              <a:rPr lang="fr-FR" sz="2200" dirty="0"/>
              <a:t>, </a:t>
            </a:r>
            <a:r>
              <a:rPr lang="fr-FR" sz="2200" dirty="0" err="1"/>
              <a:t>seaborn</a:t>
            </a:r>
            <a:r>
              <a:rPr lang="fr-FR" sz="2200" dirty="0"/>
              <a:t>, </a:t>
            </a:r>
            <a:r>
              <a:rPr lang="fr-FR" sz="2200" dirty="0" err="1"/>
              <a:t>numpy</a:t>
            </a:r>
            <a:r>
              <a:rPr lang="fr-FR" sz="2200" dirty="0"/>
              <a:t>, </a:t>
            </a:r>
            <a:r>
              <a:rPr lang="fr-FR" sz="2200" dirty="0" err="1"/>
              <a:t>scipy</a:t>
            </a:r>
            <a:r>
              <a:rPr lang="fr-FR" sz="2200" dirty="0"/>
              <a:t>, </a:t>
            </a:r>
            <a:r>
              <a:rPr lang="fr-FR" sz="2200" dirty="0" err="1"/>
              <a:t>dcor</a:t>
            </a:r>
            <a:endParaRPr lang="fr-FR" sz="2200" dirty="0"/>
          </a:p>
        </p:txBody>
      </p:sp>
      <p:pic>
        <p:nvPicPr>
          <p:cNvPr id="6146" name="Picture 2" descr="Python (programming language) - Wikipedia">
            <a:extLst>
              <a:ext uri="{FF2B5EF4-FFF2-40B4-BE49-F238E27FC236}">
                <a16:creationId xmlns:a16="http://schemas.microsoft.com/office/drawing/2014/main" id="{EE8B866C-3B71-B643-429D-CFD90F8FC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90615" y="640080"/>
            <a:ext cx="5075834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C062BD-F268-E828-14CE-9F211011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2DA3-9CFF-4223-9A1E-761C082B857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3962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454</Words>
  <Application>Microsoft Office PowerPoint</Application>
  <PresentationFormat>Grand écran</PresentationFormat>
  <Paragraphs>103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Thème Office</vt:lpstr>
      <vt:lpstr>Projet : Analyser les ventes d’une librairie avec Python</vt:lpstr>
      <vt:lpstr>Sommaire</vt:lpstr>
      <vt:lpstr>Contexte</vt:lpstr>
      <vt:lpstr>Analyse des indicateurs de ventes</vt:lpstr>
      <vt:lpstr>CA</vt:lpstr>
      <vt:lpstr>CA par catégorie</vt:lpstr>
      <vt:lpstr>Nombre de clients</vt:lpstr>
      <vt:lpstr>Nombre de transactions</vt:lpstr>
      <vt:lpstr>Nombre de produits vendus</vt:lpstr>
      <vt:lpstr>Analyse des indicateurs de ventes</vt:lpstr>
      <vt:lpstr>Répartition par catégorie</vt:lpstr>
      <vt:lpstr>Les tops</vt:lpstr>
      <vt:lpstr>Les flops</vt:lpstr>
      <vt:lpstr>Analyse des indicateurs de ventes</vt:lpstr>
      <vt:lpstr>CA pour les clients b2b</vt:lpstr>
      <vt:lpstr>Courbe de Lorenz</vt:lpstr>
      <vt:lpstr>Analyse des corrélations</vt:lpstr>
      <vt:lpstr>Genre d’un client et catégorie des livres achetés</vt:lpstr>
      <vt:lpstr>Âge des clients et montant total des achats</vt:lpstr>
      <vt:lpstr>Âge des clients et fréquence d’achat</vt:lpstr>
      <vt:lpstr>Âge des clients et la taille du panier moyen</vt:lpstr>
      <vt:lpstr>Âge des clients et catégorie des livres achetés</vt:lpstr>
      <vt:lpstr>Partie technique</vt:lpstr>
      <vt:lpstr>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Alvarez</dc:creator>
  <cp:lastModifiedBy>arthur Alvarez</cp:lastModifiedBy>
  <cp:revision>8</cp:revision>
  <dcterms:created xsi:type="dcterms:W3CDTF">2025-05-30T14:42:15Z</dcterms:created>
  <dcterms:modified xsi:type="dcterms:W3CDTF">2025-05-30T17:15:04Z</dcterms:modified>
</cp:coreProperties>
</file>